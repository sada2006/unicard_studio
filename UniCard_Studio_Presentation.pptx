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" cy="3474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EA5E9"/>
                </a:solidFill>
              </a:defRPr>
            </a:pPr>
            <a:r>
              <a:t>ENTERPRISE CAMPUS CREDENTIAL &amp; TRANSIT ECOSYSTEM</a:t>
            </a:r>
          </a:p>
          <a:p>
            <a:pPr>
              <a:spcAft>
                <a:spcPts val="1000"/>
              </a:spcAft>
              <a:defRPr sz="4400" b="1">
                <a:solidFill>
                  <a:srgbClr val="F8FAFC"/>
                </a:solidFill>
              </a:defRPr>
            </a:pPr>
            <a:r>
              <a:t>UniCard Studio</a:t>
            </a:r>
          </a:p>
          <a:p>
            <a:pPr>
              <a:spcAft>
                <a:spcPts val="2500"/>
              </a:spcAft>
              <a:defRPr sz="1800">
                <a:solidFill>
                  <a:srgbClr val="94A3B8"/>
                </a:solidFill>
              </a:defRPr>
            </a:pPr>
            <a:r>
              <a:t>Next-Generation Smart Identity Issuance, 3D Physics Verification &amp; Anti-Proxy Transit Platform</a:t>
            </a:r>
          </a:p>
          <a:p>
            <a:pPr>
              <a:defRPr sz="1200">
                <a:solidFill>
                  <a:srgbClr val="10B981"/>
                </a:solidFill>
              </a:defRPr>
            </a:pPr>
            <a:r>
              <a:t>🌐 Live System: https://sada2006.github.io/UniCard_Studio/   •   ⚡ Built with React 18, Three.js &amp; Web Audio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PROBLEM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Current Challenges in University Credential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02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Slow Manual Issuance</a:t>
            </a:r>
          </a:p>
          <a:p>
            <a:pPr>
              <a:spcAft>
                <a:spcPts val="600"/>
              </a:spcAft>
              <a:defRPr sz="950" b="1">
                <a:solidFill>
                  <a:srgbClr val="F59E0B"/>
                </a:solidFill>
              </a:defRPr>
            </a:pPr>
            <a:r>
              <a:t>• ADMINISTRATIVE BOTTLENECK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Mass freshman onboarding creates severe administrative bottlenecks.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Manual card-by-card typesetting causes typographical &amp; photo errors.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Weeks of delay before students receive valid physical credentials.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Clerical overhead limits staff productivity during semester starts.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Identity Forgery &amp; Clones</a:t>
            </a:r>
          </a:p>
          <a:p>
            <a:pPr>
              <a:spcAft>
                <a:spcPts val="600"/>
              </a:spcAft>
              <a:defRPr sz="950" b="1">
                <a:solidFill>
                  <a:srgbClr val="F43F5E"/>
                </a:solidFill>
              </a:defRPr>
            </a:pPr>
            <a:r>
              <a:t>• SECURITY VULNERABILITY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Standard PVC plastic cards lack active cryptographic or digital validation.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No safeguards against using the same photo under multiple student IDs.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Fake cards pass visual inspections at campus libraries and facilities.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Difficult to verify authentic issuing authority signatures.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Widespread Proxy Attendance</a:t>
            </a:r>
          </a:p>
          <a:p>
            <a:pPr>
              <a:spcAft>
                <a:spcPts val="600"/>
              </a:spcAft>
              <a:defRPr sz="950" b="1">
                <a:solidFill>
                  <a:srgbClr val="0EA5E9"/>
                </a:solidFill>
              </a:defRPr>
            </a:pPr>
            <a:r>
              <a:t>• OPERATIONAL FRAUD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Students easily hand cards to peers to tap in their absence at doors.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Teachers spend valuable lecture minutes doing manual roll calls.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Lost or reported stolen cards remain usable at turnstile gates.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No real-time audit trail linking physical headcount to digital badge taps.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UniCard Studio: Unified Smart Credential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03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Dual-Issuance Architecture</a:t>
            </a:r>
          </a:p>
          <a:p>
            <a:pPr>
              <a:spcAft>
                <a:spcPts val="600"/>
              </a:spcAft>
              <a:defRPr sz="950" b="1">
                <a:solidFill>
                  <a:srgbClr val="0EA5E9"/>
                </a:solidFill>
              </a:defRPr>
            </a:pPr>
            <a:r>
              <a:t>• STREAMLINED LIFECYCLE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Bulk Batch CSV Processing: Onboard 2,000+ candidates in seconds.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Single Member Kiosk: Instant walk-in and replacement issuance desk.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Automatic Photo Parsing: Real image URL ingestion with smart fallback.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Deterministic SVG Avatars: Ensures zero cards are ever minted blank.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Standard CR-80 Output: Print-ready sheets with ISO scissor markings.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Multi-Tier Campus Security</a:t>
            </a:r>
          </a:p>
          <a:p>
            <a:pPr>
              <a:spcAft>
                <a:spcPts val="600"/>
              </a:spcAft>
              <a:defRPr sz="950" b="1">
                <a:solidFill>
                  <a:srgbClr val="10B981"/>
                </a:solidFill>
              </a:defRPr>
            </a:pPr>
            <a:r>
              <a:t>• NEXT-GEN DEFENSE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1:N Biometric Face Deduplication: Prevents credential cloning.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Interactive 3D Visualizer: Real-time physics, lighting &amp; card flipping.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Virtual RFID/NFC Turnstile: Live tap simulation with audio feedback.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Anti-Proxy Headcount Audit: Compares classroom seating with taps.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Central Registry Database: Instant search, filter &amp; card revocation.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TECHNICAL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Enterprise 3-Layer Campus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04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1. Presentation Layer</a:t>
            </a:r>
          </a:p>
          <a:p>
            <a:pPr>
              <a:spcAft>
                <a:spcPts val="600"/>
              </a:spcAft>
              <a:defRPr sz="950" b="1">
                <a:solidFill>
                  <a:srgbClr val="0EA5E9"/>
                </a:solidFill>
              </a:defRPr>
            </a:pPr>
            <a:r>
              <a:t>• USER INTERFACE &amp; EXPERIENCE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React 18 &amp; Vite: High-performance, zero-latency responsive SPA.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Three.js 3D Viewport: Real-time card tilt, inertia &amp; shadow reflection.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Tailwind CSS: Fluid department palette styling &amp; dynamic layout.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Web Audio API: Synthesizes authentic 13.56 MHz RFID gate chimes.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2. Security &amp; Logic Engine</a:t>
            </a:r>
          </a:p>
          <a:p>
            <a:pPr>
              <a:spcAft>
                <a:spcPts val="600"/>
              </a:spcAft>
              <a:defRPr sz="950" b="1">
                <a:solidFill>
                  <a:srgbClr val="10B981"/>
                </a:solidFill>
              </a:defRPr>
            </a:pPr>
            <a:r>
              <a:t>• VERIFICATION &amp; RULES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Biometric Image Hash: Fast 1:N facial comparison against registry.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Anti-Passback Engine: Enforces 15s re-entry cooldown on badge taps.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Gate Interceptor: Queries revoked card blacklist in real-time.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Campus SSO Gate: Enforces Registrar Admin vs. Student wallet modes.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3. Persistence &amp; Registry</a:t>
            </a:r>
          </a:p>
          <a:p>
            <a:pPr>
              <a:spcAft>
                <a:spcPts val="600"/>
              </a:spcAft>
              <a:defRPr sz="950" b="1">
                <a:solidFill>
                  <a:srgbClr val="F59E0B"/>
                </a:solidFill>
              </a:defRPr>
            </a:pPr>
            <a:r>
              <a:t>• DATA MANAGEMENT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Institutional Database: In-memory &amp; local offline state with zero lag.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Multi-Field Indexing: Instant regex-based queries across 6 columns.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Enterprise Readiness: REST/GraphQL API with PostgreSQL &amp; Redis.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Zero-Loss Buffer: Edge caching ensures gates work even without Wi-Fi.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CORE FEATURE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Flexible Dual-Mode Credential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05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Single Member Kiosk Mode</a:t>
            </a:r>
          </a:p>
          <a:p>
            <a:pPr>
              <a:spcAft>
                <a:spcPts val="600"/>
              </a:spcAft>
              <a:defRPr sz="950" b="1">
                <a:solidFill>
                  <a:srgbClr val="0EA5E9"/>
                </a:solidFill>
              </a:defRPr>
            </a:pPr>
            <a:r>
              <a:t>• ON-DEMAND ISSUANCE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Purpose: Everyday registrar desk &amp; immediate counter operations.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Use Cases: Mid-semester transfers, visiting scholars, replacement cards.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Live Customization: Immediate form inputs for name, roll, and branch.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Live Camera Capture: Integrated device webcam for on-the-spot photos.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1-Click Commit: '💾 Save to Registry' instantly commits active badge.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Mass Batch CSV Ingestion</a:t>
            </a:r>
          </a:p>
          <a:p>
            <a:pPr>
              <a:spcAft>
                <a:spcPts val="600"/>
              </a:spcAft>
              <a:defRPr sz="950" b="1">
                <a:solidFill>
                  <a:srgbClr val="10B981"/>
                </a:solidFill>
              </a:defRPr>
            </a:pPr>
            <a:r>
              <a:t>• BULK ONBOARDING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Purpose: Annual/semester onboarding for thousands of new freshmen.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Intelligent Header Parser: Auto-detects names, IDs, courses &amp; photos.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Smart Avatar Generation: Seeded SVG avatar fallback for blank photos.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Cohort Navigation: Step through candidates with prev/next buttons.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Bulk Synchronization: '💾 Save All to Registry' commits entire cohort.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CORE FEATURE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Biometric Face Deduplication &amp; Impostor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06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1:N Facial Deduplication Engine</a:t>
            </a:r>
          </a:p>
          <a:p>
            <a:pPr>
              <a:spcAft>
                <a:spcPts val="600"/>
              </a:spcAft>
              <a:defRPr sz="950" b="1">
                <a:solidFill>
                  <a:srgbClr val="F43F5E"/>
                </a:solidFill>
              </a:defRPr>
            </a:pPr>
            <a:r>
              <a:t>• ANTI-CLONING MECHANISM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Perceptual Image Hashing: Generates unique digital biometric signatures.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Zero-Latency Comparison: Evaluates incoming photos against registry.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Prevents Double Issuance: Halts rogue cards using previously bound faces.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Instant Fraud Alert: Warns registrar: '⚠️ Duplicate Biometric Detected'.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Clean Re-Issuance: Authorized replacement cards update the face map safely.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Multi-Source Photographic Support</a:t>
            </a:r>
          </a:p>
          <a:p>
            <a:pPr>
              <a:spcAft>
                <a:spcPts val="600"/>
              </a:spcAft>
              <a:defRPr sz="950" b="1">
                <a:solidFill>
                  <a:srgbClr val="0EA5E9"/>
                </a:solidFill>
              </a:defRPr>
            </a:pPr>
            <a:r>
              <a:t>• PHOTO INGESTION SUITE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Live Webcam Module: Native WebRTC camera access with instant preview.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Local File Upload: Upload JPEG/PNG passport photos directly.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Deterministic SVG Engine: Fallback seeded vectors for mass CSVs.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Automatic Cropping &amp; Centering: Ensures standard ISO photo aspect ratio.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Biometric Status Badge: Displays 'DEDUP VERIFIED' on approved cards.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CORE FEATURE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Interactive 3D Physics &amp; Multi-Role Badges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07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Real-Time 3D Card Engine</a:t>
            </a:r>
          </a:p>
          <a:p>
            <a:pPr>
              <a:spcAft>
                <a:spcPts val="600"/>
              </a:spcAft>
              <a:defRPr sz="950" b="1">
                <a:solidFill>
                  <a:srgbClr val="0EA5E9"/>
                </a:solidFill>
              </a:defRPr>
            </a:pPr>
            <a:r>
              <a:t>• VISUAL EXPERIENCE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Dynamic Tilt &amp; Physics: Rotates fluidly following cursor/touch input.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Realistic Lighting: Specular highlights, chip sheen &amp; soft shadows.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Dual Orientation: Instant toggle between Portrait and Landscape.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Zero Text Cutoff: Responsive typography prevents edge overflow.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Multi-View Modes: Front-only, back-only, or simultaneous dual inspection.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Campus Roles &amp; Department Themes</a:t>
            </a:r>
          </a:p>
          <a:p>
            <a:pPr>
              <a:spcAft>
                <a:spcPts val="600"/>
              </a:spcAft>
              <a:defRPr sz="950" b="1">
                <a:solidFill>
                  <a:srgbClr val="F59E0B"/>
                </a:solidFill>
              </a:defRPr>
            </a:pPr>
            <a:r>
              <a:t>• ROLE PERSONALIZATION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5 Institutional Roles: Student, Faculty, Scholar, Trainee, Admin Staff.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Dynamic Authority Signatures: Changes registrars &amp; dean signatures by role.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6 Academic Branch Themes: CSE, AI &amp; DS, ECE, Mech, Civil, BioTech.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Custom Hex Color Wheel: Fully customizable branding for any college.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Holographic Security Chip: Realistic metallic chip &amp; magnetic strip.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CORE FEATURE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Smart Turnstile Simulator &amp; Teacher Anti-Proxy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08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Virtual Contactless RFID/NFC Terminal</a:t>
            </a:r>
          </a:p>
          <a:p>
            <a:pPr>
              <a:spcAft>
                <a:spcPts val="600"/>
              </a:spcAft>
              <a:defRPr sz="950" b="1">
                <a:solidFill>
                  <a:srgbClr val="0EA5E9"/>
                </a:solidFill>
              </a:defRPr>
            </a:pPr>
            <a:r>
              <a:t>• GATE EMULATION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13.56 MHz Reader Emulation: Click-to-tap interface with realistic audio.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Multiple Gate Terminals: Lecture Hall LH-101, CS Lab, North Turnstile.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Live Tap Counter: Tracks cumulative tap volume for each classroom door.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Lost Card Blacklist Guard: Blocks revoked cards with loud buzzer alarm.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Anti-Passback Defense: Flags re-taps within 15 seconds to prevent card pass.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Teacher Classroom Headcount Audit</a:t>
            </a:r>
          </a:p>
          <a:p>
            <a:pPr>
              <a:spcAft>
                <a:spcPts val="600"/>
              </a:spcAft>
              <a:defRPr sz="950" b="1">
                <a:solidFill>
                  <a:srgbClr val="10B981"/>
                </a:solidFill>
              </a:defRPr>
            </a:pPr>
            <a:r>
              <a:t>• ANTI-PROXY VERIFICATION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Problem: Proxy attendance and students sneaking past door scanners.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Solution: Teacher inputs physical seated headcount into terminal.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Automatic Discrepancy Detection: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  • Seated &gt; Taps: Alerts teacher to untracked students bypassing scanner.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  • Taps &gt; Seated: Triggers '🚨 Proxy Attendance Alert' (ghost taps logged).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  • Seated = Taps: Confirms 100% verified zero-proxy classroom session.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CORE FEATURE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Central University Registry &amp; Dual Portal 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09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Searchable Institutional Database</a:t>
            </a:r>
          </a:p>
          <a:p>
            <a:pPr>
              <a:spcAft>
                <a:spcPts val="600"/>
              </a:spcAft>
              <a:defRPr sz="950" b="1">
                <a:solidFill>
                  <a:srgbClr val="0EA5E9"/>
                </a:solidFill>
              </a:defRPr>
            </a:pPr>
            <a:r>
              <a:t>• DATABASE MANAGEMENT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Multi-Field Live Query: Filter by Name, Roll No, Branch, or Blood Group.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Dropdown Categorization: One-click filter by Campus Role or Department.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Direct 3D Card Loading: 'Load in 3D →' renders student card immediately.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Inline Editor Jump: '✏️ Edit' transfers record into single-card editor.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Instant Revocation: '🗑️ Revoke' removes card &amp; locks it out of turnstiles.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Role-Based Access Control (Campus SSO)</a:t>
            </a:r>
          </a:p>
          <a:p>
            <a:pPr>
              <a:spcAft>
                <a:spcPts val="600"/>
              </a:spcAft>
              <a:defRPr sz="950" b="1">
                <a:solidFill>
                  <a:srgbClr val="F59E0B"/>
                </a:solidFill>
              </a:defRPr>
            </a:pPr>
            <a:r>
              <a:t>• AUTHENTICATION &amp; ACCESS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🛡️ Registrar Admin (admin@apex.edu / admin123):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  • Full authority: Batch CSV, Registry DB commits &amp; Card Revocation.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👤 Enrolled Student (student@apex.edu / student123):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  • Read-only Digital ID Wallet: View card, 3D flip &amp; test gate taps.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1-Click Auto-Fill Demo: Instant login switching during presentations.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ISO CR-80 Print Layout: Precision cut markings (✂) for physical lamination.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Project Summary, Impact &amp; Enterprise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10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Key Project Accomplishments</a:t>
            </a:r>
          </a:p>
          <a:p>
            <a:pPr>
              <a:spcAft>
                <a:spcPts val="600"/>
              </a:spcAft>
              <a:defRPr sz="950" b="1">
                <a:solidFill>
                  <a:srgbClr val="10B981"/>
                </a:solidFill>
              </a:defRPr>
            </a:pPr>
            <a:r>
              <a:t>• OPERATIONAL IMPACT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All-in-One Solution: Replaced fragmented ID and attendance workflows.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Zero-Lag Performance: Sub-second rendering of 3D cards &amp; batch CSVs.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Complete Fraud Defense: Eliminates proxy attendance and cloned IDs.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Production Ready: Fully built, verified, and hosted on GitHub Pages.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Zero Cost Deployment: Runs entirely on standard modern browser tech.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Future Enterprise Roadmap</a:t>
            </a:r>
          </a:p>
          <a:p>
            <a:pPr>
              <a:spcAft>
                <a:spcPts val="600"/>
              </a:spcAft>
              <a:defRPr sz="950" b="1">
                <a:solidFill>
                  <a:srgbClr val="0EA5E9"/>
                </a:solidFill>
              </a:defRPr>
            </a:pPr>
            <a:r>
              <a:t>• SCALABILITY VISION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Physical NFC Hardware: Connect WebUSB/WebNFC to physical turnstiles.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ACID Master Database: PostgreSQL backend with signed JWT authorization.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Real-Time Message Bus: Redis Streams / Kafka for sub-15ms sync.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Edge Turnstile Cache: Local SQLite cache ensures 100% offline uptime.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✔ Live System: https://sada2006.github.io/UniCard_Studio/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